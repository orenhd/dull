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פתיחה קצרה:‏ מי אני,‏ מה הפרויקט (‪Dull‬ — חנות אונליין לחולצות בהשראת בלאק מטאל). מסגרת:‏ כ-‪15‬ דקות סה"כ,‏ כולל המצגת הזו וההדגמה החיה שתגיע אחריה.‏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הרעיון המקורי:‏ מותג הלבשה גדול (כמו ‪Next‬) עם שני טוויסטים — חשיפת מעצבי-בית בהשראת איקאה,‏ וניהול-והצגה שלהם כ'רוסטר' בהשראת לייבל מוזיקת פופ.‏ קהל יעד:‏ הורים מדור ה-‪X‬, בגדים חלקים ואיכותיים שמחזיקים מעמד.‏ ‪8‬ הראיונות (השקף הבא) דחו את מרכיב ה'רוסטר' באופן חד-משמעי — לא נרטיב שבונה אמון.‏ התפנית:‏ להחיל את תובנת המחקר,‏ אבל למקד את המוצר סביב הרעיון האישי המקורי — חולצת ‪45‬ גרייב שלא ניתן לקנות בפועל.‏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‪8‬ ראיונות עומק — ‪4‬ אמיתיים מ-‪9.8, 4‬ נוספים מבוססי הנחות מהבריף.‏ הממצא המרכזי:‏ רוב המרואיינים לא מתחברים לנרטיב 'מעצב' כמנוע אמון — זו הסיבה שהגימיק מהשקף הקודם ירד מהשולחן.‏ שתי תובנות נוספות עיצבו ישירות פיצ'רים אמיתיים באתר — מדריך המידות ופסקת החומרים.‏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מוד בורד מלא נמצא ב-‪FigJam‬ — כאן רק ריצה מהירה,‏ ארבעה דימויים אמיתיים.‏ אפור פחם (לא שחור) כ'שחור' הבסיסי של האתר — נאמר בעל פה,‏ לא כרטיס נפרד.‏ מחוות הקדושים הנוצריים (רפאל): תנוחה וסימבוליקת כחול/צהוב הן ההשראה — תוך הקפדה שהתנוחה לא מסתירה את הבגד עצמו.‏ הפלטה הרביעית היא הלוח שאורן גיבש ידנית,‏ מוכיחה בעין את הכחול/צהוב החוזר משני הציורים.‏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לא להתעכב על התהליך הטכני מול המודלים — כבר נדון בכיתה.‏ כן להדגיש:‏ שיטת 'השיחה הנקייה', ושכאן בדיוק המקום להזכיר את עדכון א' — ‪Dull Creative‬ עבר לארכיון כי התברר שהנחיה תמציתית עם דימויים מצורפים עובדת טוב יותר משיחה ייעודית ארוכה.‏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הצגת הבחירה הסופית בלבד — מכתש רמון,‏ כמענה צחיח לתמת השלג/קיפאון של בלאק-מטאל.‏ בלי תמונת רקע של המיקום עצמו — נשענים על תמונות המוצר.‏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עיצוב הסנדלים והצעתם באתר — קצר.‏ הדגש:‏ אותה מערכת עובדת גם מחוץ לחולצות.‏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הדמו החי המקורי:‏ ‪orenhd.github.io/dull-demo‬ — עוד סטייל-גייד,‏ בלי פיתוח אמיתי.‏ נקודת המעבר לשקף הבא.‏ אבל:‏ עמוד הפריט בפועל הגיע רחוק — כמעט שלם,‏ עם מדריך מידות ושקיפות חומרים,‏ עדיין באנגלית בשלב הזה.‏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חשוב להדגיש בעל-פה:‏ אלה לא טעויות '‪vibe coding‬' סתמיות — אלה הרגלים מהעבודה השכירה שלי כמפתח פרונטאנד בחברת ‪AI‬ (מיפוי מניתוח צילומי מצלמות אבטחה רכביות). דווקא הקורס לימד אותי להיות ‪vibe coder‬ נכון.‏ שלוש הטעויות:‏ עבודה נקודתית בלי קונטקסט נשמר,‏ מחיקת הערות שהמודל השאיר (תפיסה שמניחה קורא אנושי), והנחיה על 'איך' לכתוב קוד במקום 'מה' רוצים.‏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הפתרון:‏ ‪Slack‬ + ארבע שיחות ‪Claude‬ ייעודיות (בקאנד/פרונטאנד/קריאייטיב/מצגת-הגשה), כל אחת מדווחת לערוץ שלה.‏ מעבר ל-‪Cowork‬ וביטול ‪Cursor‬ — האחריות שלי היא קונטקסט,‏ לא קוד.‏ ‪VSCode‬ היום לצפייה בלבד.‏ מה רצינו להוכיח:‏ שהתפיסה עובדת בשלושה שדות שונים במקביל.‏ לציין בקול:‏ השיחה הרביעית — ‪dull-presentation‬, זו ממש — עובדת לפי אותה שיטה,‏ ומיישמת ישירות את תובנות הקורס עצמו (כולל הסקילים הייעודיים לקייס סטאדי ולדף הנחיתה).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כלי המדידה עצמו (‪type-scale-parity-check.html‬) — קו הבסיס האופקי מדמה פרופת דפוס.‏ ‪h2/body/body-strong‬ נמדדו ישירות;‏ ‪h1‬ נופל בין שתי נקודות מדידה → אינטרפולציה;‏ ‪h3/caption‬ מתחת לטווח → אקסטרפולציה.‏ ‪line-height‬ לא נאמד — נפתר אלגברית:‏ ‪24px (leading‬ אנגלי) חלקי ‪18px‬ (גופן עברי) = ‪1.33‬, יחס יחסי שממשיך לעבוד עם ‪zoom‬/נגישות.‏ לציין בעל-פה:‏ הגישה הזו (שמירת גריד זהה לכל השפות) מגיעה מהניסיון האישי שלי בעיצוב דפוס רב-לשוני — לא רעיון תיאורטי.‏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סקירה מהירה של שמונה היכולות המרכזיות שנבנו — טקסט/דיאגרמה בלבד,‏ בלי סקרינשוט של האתר החי (זה יגיע בהדגמה עצמה,‏ לא כפילות כאן). שלושת השקפים הבאים מרחיבים טכנית.‏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מוסכמת הקוד המרכזית:‏ אין ‪magic numbers‬ — כל ערך קבוע ב-‪env.ts‬ (תלוי-סביבה), ‪constants‬/ (קבוע אמיתי), או ‪StoreSettings‬ עתידי ב-‪DB‬ (תלוי-עסק,‏ בלי ‪deploy‬).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טבלת הטכנולוגיות ישירות מ-‪frontend/TECH_SPEC.md‬ §‪1. shadcn/ui‬ תוכנן לרכיבים פונקציונליים בלבד — ראו שקף הבא למה שקרה בפועל.‏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העמקה טכנית לבקשת אורן (בתחום שלו — רוצה להיות מדויק). ארבע נקודות שנבדקו ישירות מול הקוד (לא רק ‪TECH_SPEC‬ המתוכנן): ‪TanStack Query‬=‪server state‬ בזיכרון,‏ ‪Zustand‬=‪client state‬ (עגלה ‪persisted, auth‬ לא). ‪Tailwind‬ ניזון מ-‪tokens.css‬ דרך @‪theme. shadcn/ui‬ תוכנן אך לא הותקן בפועל — אין @‪radix-ui‬ בפרויקט,‏ ה-'‪accordion‬' הוא &lt;‪details‬&gt; טבעי.‏ ‪Zod‬ כרגע רק על ‪env.ts (validation+type inference‬ במכה אחת), ולידציית טפסים עדיין לא מומשה.‏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‪Render (Starter, $7‬/חודש,‏ ‪Frankfurt) + Neon (Postgres‬ מנוהל,‏ גם הוא ‪Frankfurt‬) — קרבה גיאוגרפית מכוונת.‏ ‪Free tier‬ נפסל כי הוא נרדם אחרי ‪15‬ דקות בלי תנועה — לא מתאים לפרויקט שנשלח לאנשים אמיתיים.‏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‪Mixpanel‬ נבחר,‏ פותח ונבדק.‏ הפיצ'ר המרכזי להראות בהדגמה:‏ מיזוג זהות — אירועי ‪guest‬ שנרשמו לפני התחברות משויכים אוטומטית למשתמש הנכון אחרי לוגין,‏ ומוצגים יחד בעמוד המשתמש שלי עצמי.‏ התמונה בשקף היא סקרינשוט אמיתי של עמוד המשתמש שלי ב-‪Mixpanel‬ — לא מבוים.‏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מעבר קצר — לא סיכום מלא,‏ זה כבר נאמר.‏ לעבור ישירות לדפדפן:‏ גלישה למוצרים,‏ עמוד פריט של חולצת דארקת'רון עם כל הפיצ'רים,‏ מידה לא זמינה,‏ שיתוף וואטסאפ,‏ סל,‏ לוגין,‏ הזמנה,‏ מייל,‏ היסטוריית הזמנות,‏ דשבורד ‪Mixpanel‬, ולבסוף מקרה הקצה של אזל המלאי.‏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dull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5608" y="2331720"/>
            <a:ext cx="384048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F5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אורן הדר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0" y="42519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45900.2  |  AI Product Design &amp; UX/UI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0" y="459028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ג'ון ברייס הדרכה,‏ תל אביב  ·  ‪17.9.2026‬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53432" y="5495544"/>
            <a:ext cx="2084832" cy="1014315"/>
          </a:xfrm>
          <a:prstGeom prst="roundRect">
            <a:avLst>
              <a:gd name="adj" fmla="val 54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1" descr="/home/claude/assets/john_bryce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48" y="5623560"/>
            <a:ext cx="1828800" cy="7582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‪01‬  ·  ההתחלה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המקור</a:t>
            </a:r>
            <a:endParaRPr lang="en-US" sz="3400" dirty="0"/>
          </a:p>
        </p:txBody>
      </p:sp>
      <p:pic>
        <p:nvPicPr>
          <p:cNvPr id="4" name="Image 0" descr="/home/claude/assets/hi-res-opt/alon-45_grave-shirt-mens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3931920" cy="3931920"/>
          </a:xfrm>
          <a:prstGeom prst="ellipse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937760" y="1737360"/>
            <a:ext cx="6583680" cy="2331720"/>
          </a:xfrm>
          <a:prstGeom prst="roundRect">
            <a:avLst>
              <a:gd name="adj" fmla="val 4706"/>
            </a:avLst>
          </a:prstGeom>
          <a:solidFill>
            <a:srgbClr val="F3F2E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166360" y="18745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הרעיון המקורי:‏ מותג עם 'רוסטר מעצבים'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166360" y="2331720"/>
            <a:ext cx="6126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מותג הלבשה גדול בסגנון ‪Next‬ — עם שני טוויסטים.‏ הראשון,‏ בהשראת איקאה:‏ חשיפת מעצבי-הבית מאחורי כל דגם,‏ בשם ובקרדיט אישי.‏ השני,‏ בהשראת לייבל מוזיקת פופ:‏ ניהול והצגת מערך המעצבים כ'רוסטר' עם זהות קבוצתית.‏ קהל היעד:‏ הורים מדור ה-‪X‬, שמחפשים בגדים חלקים ואיכותיים שמחזיקים מעמד.‏ שמונת הראיונות (בפרק הבא) דחו את מרכיב ה'רוסטר' באופן חד-משמעי — למרואיינים לא היה אכפת מי 'עיצב' את החולצה.‏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937760" y="4160520"/>
            <a:ext cx="6583680" cy="2286000"/>
          </a:xfrm>
          <a:prstGeom prst="roundRect">
            <a:avLst>
              <a:gd name="adj" fmla="val 4800"/>
            </a:avLst>
          </a:prstGeom>
          <a:solidFill>
            <a:srgbClr val="20252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166360" y="423367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spc="100" kern="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התפנית שבחרתי:‏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166360" y="45720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5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“כמה היה נחמד אם חולצת דארקת'רון בגווני תכלת וכתום דהויים אך לא משופשפים הייתה מוצר אמיתי.‏”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166360" y="553212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החלטתי ליישם את תובנת המחקר — האמון לא נבנה על סיפור 'מעצב' — אבל למקד את המוצר עצמו סביב הרעיון האישי שממנו הכל התחיל.‏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· אורן הדר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‪02‬  ·  ולידציה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המחקר — ‪8‬ ראיונות עומק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91840" cy="3931920"/>
          </a:xfrm>
          <a:prstGeom prst="roundRect">
            <a:avLst>
              <a:gd name="adj" fmla="val 3333"/>
            </a:avLst>
          </a:prstGeom>
          <a:solidFill>
            <a:srgbClr val="2025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06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6/8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918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5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מרואיינים הביעו עמדה מסויגת או שלילית כלפי נרטיב ‘מעצב’ כמנוע אמון בקנייה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‪4‬ ראיונות אותנטיים (‪9.8.26) + 4‬ מבוססי-הנחות הבריף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1737360"/>
            <a:ext cx="7360920" cy="2331720"/>
          </a:xfrm>
          <a:prstGeom prst="roundRect">
            <a:avLst>
              <a:gd name="adj" fmla="val 4706"/>
            </a:avLst>
          </a:prstGeom>
          <a:solidFill>
            <a:srgbClr val="F3F2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80560" y="192024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i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“ברגיל לא מעניין אותי.‏.. לא מעניין אותי לשמוע מי המעצב שעמד מאחורי כל זה.‏”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926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הדר,‏ ‪37‬, הייטק  ·  ראיון אותנטי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3375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בהמשך מוסיפה ניואנס מדויק:‏ זה משתנה רק אם היא כבר התאהבה בסטייל של מותג מסוים — לא כשהיא רק שוקלת לנסות אותו לראשונה.‏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60520" y="42976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D9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43400" y="4407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אי-עקביות מידות בין מותגים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473659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”המידת ג'ינס שלי משתנה כל ארבעה חודשים.‏.. אם אני יודעת פעם שאני בזארה ‪37‬ — אין לי מושג בכלל.‏”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5394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הדר,‏ ‪37‬, הייטק · ראיון אותנטי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5715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מדריך המידות המשולב באתר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55280" y="42976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D9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0" y="4407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צורך במגע פיזי לפני אמון במותג לא מוכר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473659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”לא חושבת שאני אקנה משהו שאמור לשבת טייט אונליין,‏ כאילו בלי למדוד.‏”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5394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דנה,‏ ‪43‬, שחקנית · ראיון אותנטי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5715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פסקת חומרים וייצור בעמוד המוצר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· אורן הדר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‪03‬  ·  שפה חזותית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מוד בורד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6420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לוח ‪FigJam‬ מלא — הצגה ביעף בזמן ההרצאה.‏ גם ‘אפור פחם’ (לא שחור) משמש כ’שחור’ הבסיסי לטקסט באתר כולו — בחירה מודעת,‏ לא ברירת מחדל.‏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0148" y="2148840"/>
            <a:ext cx="5341468" cy="1920240"/>
          </a:xfrm>
          <a:prstGeom prst="roundRect">
            <a:avLst>
              <a:gd name="adj" fmla="val 5714"/>
            </a:avLst>
          </a:prstGeom>
          <a:solidFill>
            <a:srgbClr val="F3F2EF"/>
          </a:solidFill>
          <a:ln/>
        </p:spPr>
      </p:sp>
      <p:pic>
        <p:nvPicPr>
          <p:cNvPr id="6" name="Image 0" descr="/home/claude/assets/hi-res-opt/nick_cave-the_mercy_seat-pos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2796" y="2313432"/>
            <a:ext cx="956170" cy="1417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374740" y="3785616"/>
            <a:ext cx="50122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טיפוגרפיה — ‪Nick Cave &amp; the Bad Seeds‬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148840"/>
            <a:ext cx="5341468" cy="1920240"/>
          </a:xfrm>
          <a:prstGeom prst="roundRect">
            <a:avLst>
              <a:gd name="adj" fmla="val 5714"/>
            </a:avLst>
          </a:prstGeom>
          <a:solidFill>
            <a:srgbClr val="F3F2EF"/>
          </a:solidFill>
          <a:ln/>
        </p:spPr>
      </p:sp>
      <p:pic>
        <p:nvPicPr>
          <p:cNvPr id="9" name="Image 1" descr="/home/claude/assets/hi-res-opt/mondrian-windmill_in_twiligh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416" y="2313432"/>
            <a:ext cx="2458796" cy="1417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4672" y="3785616"/>
            <a:ext cx="50122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כחול מול צהוב — מונדריאן,‏ לפני המופשט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10148" y="4160520"/>
            <a:ext cx="5341468" cy="1920240"/>
          </a:xfrm>
          <a:prstGeom prst="roundRect">
            <a:avLst>
              <a:gd name="adj" fmla="val 5714"/>
            </a:avLst>
          </a:prstGeom>
          <a:solidFill>
            <a:srgbClr val="F3F2EF"/>
          </a:solidFill>
          <a:ln/>
        </p:spPr>
      </p:sp>
      <p:pic>
        <p:nvPicPr>
          <p:cNvPr id="12" name="Image 2" descr="/home/claude/assets/hi-res-opt/raphael-saint_catherin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631" y="4325112"/>
            <a:ext cx="1088502" cy="1417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74740" y="5797296"/>
            <a:ext cx="50122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תנוחת קדושה,‏ כחול מול צהוב — רפאל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40080" y="4160520"/>
            <a:ext cx="5341468" cy="1920240"/>
          </a:xfrm>
          <a:prstGeom prst="roundRect">
            <a:avLst>
              <a:gd name="adj" fmla="val 5714"/>
            </a:avLst>
          </a:prstGeom>
          <a:solidFill>
            <a:srgbClr val="F3F2EF"/>
          </a:solidFill>
          <a:ln/>
        </p:spPr>
      </p:sp>
      <p:pic>
        <p:nvPicPr>
          <p:cNvPr id="15" name="Image 3" descr="/home/claude/assets/hi-res-opt/moodboard-palett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191" y="4325112"/>
            <a:ext cx="907246" cy="1417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04672" y="5797296"/>
            <a:ext cx="50122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הפלטה שגיבשתי — אותו כחול/צהוב,‏ משוכלל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· אורן הדר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‪04‬  ·  ייצור נכסים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ליהוק דוגמנים עם ‪Nano Banana‬</a:t>
            </a:r>
            <a:endParaRPr lang="en-US" sz="3400" dirty="0"/>
          </a:p>
        </p:txBody>
      </p:sp>
      <p:pic>
        <p:nvPicPr>
          <p:cNvPr id="4" name="Image 0" descr="/home/claude/assets/hi-res-opt/alon-character_she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1965960" cy="1720439"/>
          </a:xfrm>
          <a:prstGeom prst="ellipse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pic>
        <p:nvPicPr>
          <p:cNvPr id="5" name="Image 1" descr="/home/claude/assets/hi-res-opt/eitan-character_shee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32" y="1783080"/>
            <a:ext cx="1965960" cy="1720439"/>
          </a:xfrm>
          <a:prstGeom prst="ellipse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pic>
        <p:nvPicPr>
          <p:cNvPr id="6" name="Image 2" descr="/home/claude/assets/hi-res-opt/sarah-character_shee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1783080"/>
            <a:ext cx="1965960" cy="1720439"/>
          </a:xfrm>
          <a:prstGeom prst="ellipse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7" name="Text 2"/>
          <p:cNvSpPr txBox="1"/>
          <p:nvPr/>
        </p:nvSpPr>
        <p:spPr>
          <a:xfrm>
            <a:off x="640080" y="3613247"/>
            <a:ext cx="6227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שישה כרטיסי דמות — ‪3‬ לדוגמה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640080" y="3933287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מכרטיס דמות לתמונת מוצר סופית</a:t>
            </a:r>
            <a:endParaRPr lang="en-US" sz="1300" dirty="0"/>
          </a:p>
        </p:txBody>
      </p:sp>
      <p:pic>
        <p:nvPicPr>
          <p:cNvPr id="9" name="Image 3" descr="/home/claude/assets/hi-res-opt/sarah-darkthrone-shirt-womens-dark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72199"/>
            <a:ext cx="1737360" cy="1737360"/>
          </a:xfrm>
          <a:prstGeom prst="ellipse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10" name="Shape 4"/>
          <p:cNvSpPr/>
          <p:nvPr/>
        </p:nvSpPr>
        <p:spPr>
          <a:xfrm>
            <a:off x="7452360" y="1783080"/>
            <a:ext cx="4069080" cy="4343400"/>
          </a:xfrm>
          <a:prstGeom prst="roundRect">
            <a:avLst>
              <a:gd name="adj" fmla="val 2697"/>
            </a:avLst>
          </a:prstGeom>
          <a:solidFill>
            <a:srgbClr val="F3F2EF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7726680" y="2011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שיטת “השיחה הנקייה”</a:t>
            </a:r>
            <a:endParaRPr lang="en-US" sz="1800" dirty="0"/>
          </a:p>
        </p:txBody>
      </p:sp>
      <p:sp>
        <p:nvSpPr>
          <p:cNvPr id="12" name="Text 6"/>
          <p:cNvSpPr txBox="1"/>
          <p:nvPr/>
        </p:nvSpPr>
        <p:spPr>
          <a:xfrm>
            <a:off x="7726680" y="25146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שיחה חדשה לכל פרומפט (או תוצר אחד לכל היותר) — תוצאות טריות,‏ בלי הדים של דימויים שנדחו קודם באותה שיחה.‏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7726680" y="3703320"/>
            <a:ext cx="3566160" cy="0"/>
          </a:xfrm>
          <a:prstGeom prst="line">
            <a:avLst/>
          </a:prstGeom>
          <a:noFill/>
          <a:ln w="12700">
            <a:solidFill>
              <a:srgbClr val="DDD9D2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7726680" y="3886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עדכון:‏ שיחת ‘‪Dull Creative‬’ → הועברה לארכיון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7726680" y="4315968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בדיוק הניסויים האלה גילו שהנחיה תמציתית + דימויים מצורפים עובדת טוב יותר משיחה ייעודית ארוכה — השיחה הייעודית התייתרה.‏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· אורן הדר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‪05‬  ·  קונספט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מיקום הקמפיין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492240" cy="4160520"/>
          </a:xfrm>
          <a:prstGeom prst="roundRect">
            <a:avLst>
              <a:gd name="adj" fmla="val 2637"/>
            </a:avLst>
          </a:prstGeom>
          <a:solidFill>
            <a:srgbClr val="F3F2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מכתש רמון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מענה צחיח לתמת השלג והקיפאון שמובנית בבלאק-מטאל — ניגוד יבשתי,‏ לא חיקוי.‏</a:t>
            </a:r>
            <a:endParaRPr lang="en-US" sz="1600" dirty="0"/>
          </a:p>
        </p:txBody>
      </p:sp>
      <p:pic>
        <p:nvPicPr>
          <p:cNvPr id="7" name="Image 0" descr="/home/claude/assets/hi-res-opt/alon-45_grave-shirt-mens-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343400"/>
            <a:ext cx="1417320" cy="1417320"/>
          </a:xfrm>
          <a:prstGeom prst="ellipse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pic>
        <p:nvPicPr>
          <p:cNvPr id="8" name="Image 1" descr="/home/claude/assets/hi-res-opt/sarah-darkthrone-shirt-womens-dar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4343400"/>
            <a:ext cx="1417320" cy="1417320"/>
          </a:xfrm>
          <a:prstGeom prst="ellipse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pic>
        <p:nvPicPr>
          <p:cNvPr id="9" name="Image 2" descr="/home/claude/assets/hi-res-opt/noa-immortal-shirt-womens-dark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4343400"/>
            <a:ext cx="1417320" cy="1417320"/>
          </a:xfrm>
          <a:prstGeom prst="ellipse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10" name="Shape 5"/>
          <p:cNvSpPr/>
          <p:nvPr/>
        </p:nvSpPr>
        <p:spPr>
          <a:xfrm>
            <a:off x="7406640" y="1783080"/>
            <a:ext cx="4114800" cy="4160520"/>
          </a:xfrm>
          <a:prstGeom prst="roundRect">
            <a:avLst>
              <a:gd name="adj" fmla="val 2667"/>
            </a:avLst>
          </a:prstGeom>
          <a:solidFill>
            <a:srgbClr val="20252B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7680960" y="3429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5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קור  ↔  יובש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7680960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שלג ← מכתש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· אורן הדר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‪06‬  ·  קולקציה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סנדלי ‪Dull‬</a:t>
            </a:r>
            <a:endParaRPr lang="en-US" sz="3400" dirty="0"/>
          </a:p>
        </p:txBody>
      </p:sp>
      <p:pic>
        <p:nvPicPr>
          <p:cNvPr id="4" name="Image 0" descr="/home/claude/assets/hi-res-opt/sandals-wome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4206240" cy="4206240"/>
          </a:xfrm>
          <a:prstGeom prst="ellipse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166360" y="2377440"/>
            <a:ext cx="6355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הרחבת הקולקציה מעבר לחולצות — אותה שפה עיצובית (‘אפור פחם’, טיפוגרפיה נקייה) מיושמת על קטגוריית מוצר שונה לגמרי.‏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166360" y="3749040"/>
            <a:ext cx="6355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מדגים שהמערכת שנבנתה (מדריך מידות,‏ רשומות דו-לשוניות,‏ טיפוגרפיה מכוילת) לא תפורה למוצר בודד — היא כללית לכל הקטלוג.‏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· אורן הדר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‪07‬  ·  נקודת מעבר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הדמו הראשוני ב-‪HTML‬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הדמו הראשוני:‏ ‪orenhd.github.io/dull-demo‬ — עוד סטייל-גייד ב-‪CSS‬. בלי פיתוח אמיתי,‏ עמוד סטטי אחד,‏ בלי ‪Backend‬, בלי ‪DB‬.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848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נקודת המעבר:‏ מכאן והלאה — פיתוח אמיתי,‏ ובעיקר:‏ שינוי תפיסתי באיך עובדים עם ‪Claude‬.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10911535" cy="3566160"/>
          </a:xfrm>
          <a:prstGeom prst="roundRect">
            <a:avLst>
              <a:gd name="adj" fmla="val 3077"/>
            </a:avLst>
          </a:prstGeom>
          <a:solidFill>
            <a:srgbClr val="F3F2EF"/>
          </a:solidFill>
          <a:ln/>
        </p:spPr>
      </p:sp>
      <p:sp>
        <p:nvSpPr>
          <p:cNvPr id="7" name="Shape 5"/>
          <p:cNvSpPr/>
          <p:nvPr/>
        </p:nvSpPr>
        <p:spPr>
          <a:xfrm>
            <a:off x="6532543" y="2907792"/>
            <a:ext cx="4808761" cy="2642616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12700">
            <a:solidFill>
              <a:srgbClr val="DDD9D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5000"/>
              </a:srgbClr>
            </a:outerShdw>
          </a:effectLst>
        </p:spPr>
      </p:sp>
      <p:pic>
        <p:nvPicPr>
          <p:cNvPr id="8" name="Image 0" descr="/home/claude/assets/hi-res-opt/demo-item_page-desk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6551" y="2971800"/>
            <a:ext cx="4680745" cy="2514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96551" y="5559552"/>
            <a:ext cx="46807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גרסה מוקדמת של שרה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971800"/>
            <a:ext cx="54535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אבל מה כן:‏ עמוד הפריט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474720"/>
            <a:ext cx="5453551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פתרון כמעט מלא לעמוד המרכזי והמאתגר ביותר באתר — עמוד הפריט,‏ לדסקטופ ולמובייל.‏ יושמו בו רוב תובנות המחקר והראיונות:‏ מדריך מידות משולב,‏ ושקיפות מלאה על החומרים מהם הבגד עשוי.‏ נבנה על בסיס סטייל-גייד שקלוד גיבש — בשלב הזה עדיין באנגלית בלבד.‏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· אורן הדר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0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‪08‬  ·  השינוי התפיסתי  ·  ‪1/2‬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5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הטעויות שהבאתי מהעבודה היומיומית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E9C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מדובר בטעויות '‪vibe coding‬' קלאסיות — אלה הרגלים אמיתיים מהעבודה השכירה שלי כמפתח פרונטאנד,‏ בחברה שהמוצר שלה עצמו מבוסס ‪AI‬ (בניית מפות מניתוח צילומים ממצלמות אבטחה רכביות), בעבודה יומיומית עם ‪Windsurf‬ ו-‪Cursor‬. דווקא הקורס הזה לימד אותי להיות '‪vibe coder‬' כמו שצריך.‏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2E35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560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06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918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5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עבודה נקודתית,‏ בלי קונטקסט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11480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משימה-משימה עם ‪Cursor/Windsurf‬, בלי תחזוקת דוקומנטציה או סקילים שנשארים בין שיחות.‏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33172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2E35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2560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06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2918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5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מחיקת הערות שהמודל השאיר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411480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מדיניות ארגונית רווחת של ‘שהקוד יסביר את עצמו’ — תפיסה מוטעית:‏ מניחה קורא אנושי,‏ לא מודל.‏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2E35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03920" y="2560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06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2918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5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הנחיה על ‘איך’, לא על ‘מה’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411480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בקשת קוד עם הוראות מדויקות איך לכתוב אותו — במקום להסביר מה רוצים להשיג ולתת למודל להחליט איך.‏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· אורן הדר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0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‪08‬  ·  השינוי התפיסתי  ·  ‪2/2‬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5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הפתרון — עבודה מונחית ‪Claude‬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309360" cy="4206240"/>
          </a:xfrm>
          <a:prstGeom prst="roundRect">
            <a:avLst>
              <a:gd name="adj" fmla="val 2609"/>
            </a:avLst>
          </a:prstGeom>
          <a:solidFill>
            <a:srgbClr val="2E35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5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‪Slack‬ + ארבע שיחות ייעודיות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651760"/>
            <a:ext cx="1335024" cy="502920"/>
          </a:xfrm>
          <a:prstGeom prst="roundRect">
            <a:avLst>
              <a:gd name="adj" fmla="val 14545"/>
            </a:avLst>
          </a:prstGeom>
          <a:solidFill>
            <a:srgbClr val="2A3038"/>
          </a:solidFill>
          <a:ln w="12700">
            <a:solidFill>
              <a:srgbClr val="C062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517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5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dull-backend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2386584" y="2651760"/>
            <a:ext cx="1335024" cy="502920"/>
          </a:xfrm>
          <a:prstGeom prst="roundRect">
            <a:avLst>
              <a:gd name="adj" fmla="val 14545"/>
            </a:avLst>
          </a:prstGeom>
          <a:solidFill>
            <a:srgbClr val="2A3038"/>
          </a:solidFill>
          <a:ln w="12700">
            <a:solidFill>
              <a:srgbClr val="C062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86584" y="26517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5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dull-frontend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858768" y="2651760"/>
            <a:ext cx="1335024" cy="502920"/>
          </a:xfrm>
          <a:prstGeom prst="roundRect">
            <a:avLst>
              <a:gd name="adj" fmla="val 14545"/>
            </a:avLst>
          </a:prstGeom>
          <a:solidFill>
            <a:srgbClr val="2A3038"/>
          </a:solidFill>
          <a:ln w="12700">
            <a:solidFill>
              <a:srgbClr val="C062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58768" y="26517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5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dull-creative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330952" y="2651760"/>
            <a:ext cx="1335024" cy="502920"/>
          </a:xfrm>
          <a:prstGeom prst="roundRect">
            <a:avLst>
              <a:gd name="adj" fmla="val 14545"/>
            </a:avLst>
          </a:prstGeom>
          <a:solidFill>
            <a:srgbClr val="2A3038"/>
          </a:solidFill>
          <a:ln w="12700">
            <a:solidFill>
              <a:srgbClr val="C062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30952" y="26517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5F4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dull-presentation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3375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i="1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שיחה מדווחת סטטוס לערוץ ‪Slack‬ הייעודי לה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3886200"/>
            <a:ext cx="5760720" cy="0"/>
          </a:xfrm>
          <a:prstGeom prst="line">
            <a:avLst/>
          </a:prstGeom>
          <a:noFill/>
          <a:ln w="12700">
            <a:solidFill>
              <a:srgbClr val="3A40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06908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F5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המעבר ל-‪Cowork‬, וביטול ‪Cursor‬: הדרך הנכונה היא לתת ל-‪Claude‬ שליטה על הקוד — והאחריות של אורן היא קונטקסט,‏ לא קוד (כולל תחזוקת ‪PRD.md‬ ו-‪SCREENS_INVENTORY.md‬).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532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E9C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ראיה מהקוד:‏ ‪TECH_SPEC.md‬ מתעד מקרה שבו שני המסמכים היו מיושנים — עד שתוקן ב-‪11.9‬.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4302" y="4014216"/>
            <a:ext cx="2345682" cy="1984248"/>
          </a:xfrm>
          <a:prstGeom prst="roundRect">
            <a:avLst>
              <a:gd name="adj" fmla="val 4608"/>
            </a:avLst>
          </a:prstGeom>
          <a:solidFill>
            <a:srgbClr val="2A3038"/>
          </a:solidFill>
          <a:ln w="12700">
            <a:solidFill>
              <a:srgbClr val="3A40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0" descr="/home/claude/assets/slack-channels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9166" y="4069080"/>
            <a:ext cx="2235954" cy="187452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223760" y="182880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C0622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498080" y="2103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מה רצינו להוכיח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0" y="26060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מימוש התפיסה בשלושה שדות שונים — בקאנד,‏ פרונטאנד,‏ קריאייטיב/ארט-דירקטור — כל אחד בשיחה ייעודית נפרדת,‏ בהדרכת ‪Claude‬.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498080" y="4206240"/>
            <a:ext cx="3749040" cy="0"/>
          </a:xfrm>
          <a:prstGeom prst="line">
            <a:avLst/>
          </a:prstGeom>
          <a:noFill/>
          <a:ln w="12700">
            <a:solidFill>
              <a:srgbClr val="E3AF8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98080" y="438912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FF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השיחה הרביעית — ‪dull-presentation‬ — נפתחה לשלב ההגשה (מצגת,‏ קייס סטאדי,‏ דף נחיתה). מה שמיושם בה מבוסס ישירות על תובנות הקורס עצמו — כולל שני סקילים ייעודיים שהמורה סיפק למתודולוגיית הקייס סטאדי ודף הנחיתה.‏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· אורן הדר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‪09‬  ·  מערכת עיצוב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פתרון הטיפוגרפיה העברית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75488" y="1618488"/>
            <a:ext cx="6364224" cy="4704588"/>
          </a:xfrm>
          <a:prstGeom prst="roundRect">
            <a:avLst>
              <a:gd name="adj" fmla="val 1944"/>
            </a:avLst>
          </a:prstGeom>
          <a:solidFill>
            <a:srgbClr val="F3F2EF"/>
          </a:solidFill>
          <a:ln/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pic>
        <p:nvPicPr>
          <p:cNvPr id="5" name="Image 0" descr="/home/claude/assets/type-scale-parity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6035040" cy="43754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543800" y="17830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שתי טכניקות מתמטיות,‏ בכוונה שונות:‏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543800" y="212140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בתמונה:‏ כלי מדידה ב-‪HTML‬ שהפיקה שיחת הפרונטאנד (תיקיית ‪Claude outputs‬) — מדידה ידנית של גובה הגופן עברית מול אנגלית,‏ בשני זוגות טיפוגרפיה (כותרות/טקסט) ובגדלים שונים.‏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264261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אינטרפולציה / אקסטרפולציה — במקום שאין מדידה ישירה (‪h1, h3, caption‬).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311810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פתרון אלגברי מדויק — ל-‪line-height‬, כשאפשר לדעת את התשובה המדויקת.‏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543800" y="388620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3F2E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26680" y="40416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6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24px  ÷  18px  =  1.33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45262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אותה שורת-בסיס משותפת מעולם הדפוס — ‪leading‬ מוחלט באנגלית,‏ מחולק בגודל הגופן העברי.‏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543800" y="54406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‪frontend/tokens.css‬ — גישת “הפרינט”: שתי השפות על אותו גריד,‏ בעקבות הניסיון האישי שלי בעיצוב דפוס דו- ותלת-לשוני (ולעיתים יותר) — תמיד תוך שימור גריד זהה לכל השפות.‏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· אורן הדר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‪10‬  ·  התוצאה  ·  ‪1/5‬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מה שנבנה בפועל — סקירה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3F2EF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842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6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963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‪Backend‬ אמיתי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986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‪Node/Express/TypeScript, Prisma, Postgres‬ מנוהל (‪Neon‬)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78308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3F2EF"/>
          </a:solidFill>
          <a:ln/>
        </p:spPr>
      </p:sp>
      <p:sp>
        <p:nvSpPr>
          <p:cNvPr id="10" name="Shape 8"/>
          <p:cNvSpPr/>
          <p:nvPr/>
        </p:nvSpPr>
        <p:spPr>
          <a:xfrm>
            <a:off x="3675888" y="19842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62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7588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4963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‪Frontend‬ מלא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8986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‪React/Vite/TanStack, Zustand, Tailwind v4‬ — מוזן מ-‪tokens.css‬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3F2EF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0528" y="19842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62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1052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4963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לוגין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8986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‪Google‬ בלבד,‏ ‪guest‬ מלא באתר חוץ מ-‪checkout‬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0" y="178308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3F2EF"/>
          </a:solidFill>
          <a:ln/>
        </p:spPr>
      </p:sp>
      <p:sp>
        <p:nvSpPr>
          <p:cNvPr id="20" name="Shape 18"/>
          <p:cNvSpPr/>
          <p:nvPr/>
        </p:nvSpPr>
        <p:spPr>
          <a:xfrm>
            <a:off x="9345168" y="19842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62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4516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24963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דו-לשוני + דו-כיווני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289864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עברית/אנגלית,‏ ‪RTL/LTR‬ — ‪backend + frontend‬ בשיתוף פעולה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70332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3F2EF"/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" y="39044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62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4165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רספונסיביות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8188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דסקטופ + מובייל (בלי טאבלט — חוב מוצהר)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0" y="370332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3F2EF"/>
          </a:solidFill>
          <a:ln/>
        </p:spPr>
      </p:sp>
      <p:sp>
        <p:nvSpPr>
          <p:cNvPr id="30" name="Shape 28"/>
          <p:cNvSpPr/>
          <p:nvPr/>
        </p:nvSpPr>
        <p:spPr>
          <a:xfrm>
            <a:off x="3675888" y="39044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62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75888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0" y="44165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הגשה דינמית מאוחדת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0" y="48188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אותו ‪Render service/origin + meta-injection‬ לשיתוף קישור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370332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3F2EF"/>
          </a:solidFill>
          <a:ln/>
        </p:spPr>
      </p:sp>
      <p:sp>
        <p:nvSpPr>
          <p:cNvPr id="35" name="Shape 33"/>
          <p:cNvSpPr/>
          <p:nvPr/>
        </p:nvSpPr>
        <p:spPr>
          <a:xfrm>
            <a:off x="6510528" y="39044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622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10528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44165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מיילים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48188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‪Gmail SMTP‬ — אישור הזמנה אוטומטי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44000" y="370332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F3F2EF"/>
          </a:solidFill>
          <a:ln/>
        </p:spPr>
      </p:sp>
      <p:sp>
        <p:nvSpPr>
          <p:cNvPr id="40" name="Shape 38"/>
          <p:cNvSpPr/>
          <p:nvPr/>
        </p:nvSpPr>
        <p:spPr>
          <a:xfrm>
            <a:off x="9345168" y="39044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C0622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345168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326880" y="44165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אנליטיקה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9326880" y="48188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‪Mixpanel‬, כולל מיזוג זהות ‪guest‬→‪user‬ — פרק נפרד בהמשך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· אורן הדר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‪10‬  ·  התוצאה  ·  ‪2/5‬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מפרט הבקאנד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75488" y="1984248"/>
            <a:ext cx="6638544" cy="3109580"/>
          </a:xfrm>
          <a:prstGeom prst="roundRect">
            <a:avLst>
              <a:gd name="adj" fmla="val 2941"/>
            </a:avLst>
          </a:prstGeom>
          <a:solidFill>
            <a:srgbClr val="2A3038"/>
          </a:solidFill>
          <a:ln/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pic>
        <p:nvPicPr>
          <p:cNvPr id="5" name="Image 0" descr="/home/claude/assets/code-back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6309360" cy="27803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60920" y="1783080"/>
            <a:ext cx="4160520" cy="4297680"/>
          </a:xfrm>
          <a:prstGeom prst="roundRect">
            <a:avLst>
              <a:gd name="adj" fmla="val 2637"/>
            </a:avLst>
          </a:prstGeom>
          <a:solidFill>
            <a:srgbClr val="F3F2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0" y="201168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/ Express / TypeScript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46888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 ORM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87121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‪ORM‬ = ‪Object-Relational Mapping‬ — שכבה שמתרגמת טבלאות ‪SQL‬ לאובייקטים ב-‪TypeScript‬. מושג כללי בתעשייה (לא מוצר של חברה ספציפית) — קלוד זיהה מהדרישות שזה הכלי הנכון למשימה.‏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32735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Zod (ולידציה)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37307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OAuth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1879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מנוהל (Neon)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589520" y="4663440"/>
            <a:ext cx="3703320" cy="0"/>
          </a:xfrm>
          <a:prstGeom prst="line">
            <a:avLst/>
          </a:prstGeom>
          <a:noFill/>
          <a:ln w="12700">
            <a:solidFill>
              <a:srgbClr val="DDD9D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0" y="4828032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מסמך תכנון ‪backend‬ נפרד — ‪TECH_SPEC.md‬ הופק ע”י שיחת הבקאנד כחלק מהדרכת הפרונטאנד הראשונית (ה‘חפיפה’ בין השיחות).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· אורן הדר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‪10‬  ·  התוצאה  ·  ‪3/5‬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מפרט הפרונטאנד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11535" cy="530352"/>
          </a:xfrm>
          <a:prstGeom prst="rect">
            <a:avLst/>
          </a:prstGeom>
          <a:solidFill>
            <a:srgbClr val="F3F2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0" y="182880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‪build‬ ו-‪dev server‬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35915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TanStack Router + Query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5915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ניתוב וניהול ‪state‬ של שרת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89504"/>
            <a:ext cx="10911535" cy="530352"/>
          </a:xfrm>
          <a:prstGeom prst="rect">
            <a:avLst/>
          </a:prstGeom>
          <a:solidFill>
            <a:srgbClr val="F3F2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0" y="288950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Zustand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88950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‪state‬ קליינטי גלובלי (עגלה וכו')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341985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v4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419856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מוזן ישירות מ-‪tokens.css‬ — בלי כפילות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950208"/>
            <a:ext cx="10911535" cy="530352"/>
          </a:xfrm>
          <a:prstGeom prst="rect">
            <a:avLst/>
          </a:prstGeom>
          <a:solidFill>
            <a:srgbClr val="F3F2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0" y="395020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shadcn/ui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950208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רכיבים ‘משעממים’ בלבד — לא לעיצוב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48056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react-i18next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480560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דו-לשוניות ‪EN/HE‬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010912"/>
            <a:ext cx="10911535" cy="530352"/>
          </a:xfrm>
          <a:prstGeom prst="rect">
            <a:avLst/>
          </a:prstGeom>
          <a:solidFill>
            <a:srgbClr val="F3F2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0" y="501091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01091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ולידציה בצד הקליינט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· אורן הדר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‪10‬  ·  התוצאה  ·  ‪4/5‬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מפרט הפרונטאנד — העמקה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1468" cy="2194560"/>
          </a:xfrm>
          <a:prstGeom prst="roundRect">
            <a:avLst>
              <a:gd name="adj" fmla="val 5000"/>
            </a:avLst>
          </a:prstGeom>
          <a:solidFill>
            <a:srgbClr val="F3F2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920240"/>
            <a:ext cx="482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‪TanStack Query‬ מול ‪Zustand‬ — מי מנהל מה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450592"/>
            <a:ext cx="48294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‪TanStack Query‬ מנהל ‪server state‬ — נתונים מה-‪API‬ (מוצרים,‏ הזמנות): ‪caching‬, רענון ברקע,‏ מצבי ‪loading/error‬. חי בזיכרון בלבד,‏ נבנה מחדש בכל רענון דף.‏ ‪Zustand‬ מנהל ‪state‬ קליינטי שה-‪backend‬ לא מכיר:‏ עגלת הקניות (‪persist‬ ל-‪localStorage‬ כדי לשרוד רענון — ה-‪backend‬ לא יודע עליה עד ‪POST /orders‬ בפועל), ומטמון סשן ההתחברות (בכוונה לא ‪persisted‬ — האמת תמיד נבדקת מול השרת ב-‪GET /auth/me‬).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6210148" y="1737360"/>
            <a:ext cx="5341468" cy="2194560"/>
          </a:xfrm>
          <a:prstGeom prst="roundRect">
            <a:avLst>
              <a:gd name="adj" fmla="val 5000"/>
            </a:avLst>
          </a:prstGeom>
          <a:solidFill>
            <a:srgbClr val="F3F2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66180" y="1920240"/>
            <a:ext cx="482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‪Tailwind‬ — מחלקות אטומיות שניזונות מ-‪tokens.css‬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66180" y="2450592"/>
            <a:ext cx="48294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נכון:‏ מחלקות ה-‪Tailwind‬ לא מכילות ערכים משלהן — הן נשלפות ישירות מ-‪tokens.css‬ דרך @‪theme‬, מקור אמת יחיד בלי כפילות.‏ בניגוד ל-‪CSS-in-JS‬ הקלאסי,‏ שבעיקר מזיז את אותו ‪CSS‬ ‘כבד’ לקובץ ‪JS‬ במקום לפתור את הבעיה — כאן ה-‪CSS‬ נשאר ‪CSS‬ סטטי רגיל בלי עלות ריצה,‏ ותחזוקת העיצוב כולה מתנהלת במקום אחד.‏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5341468" cy="2194560"/>
          </a:xfrm>
          <a:prstGeom prst="roundRect">
            <a:avLst>
              <a:gd name="adj" fmla="val 5000"/>
            </a:avLst>
          </a:prstGeom>
          <a:solidFill>
            <a:srgbClr val="F3F2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4297680"/>
            <a:ext cx="482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‪shadcn/ui‬ — תוכנן,‏ בפועל לא נדרש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828032"/>
            <a:ext cx="48294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תוכנן ב-‪TECH_SPEC.md‬ לרכיבים ‘משעממים’ מבחינת נגישות (‪dropdown, modal‬) — אבל בבנייה בפועל אף רכיב לא הצדיק את התלות:‏ מדריך המידות הוא אלמנט &lt;‪details‬&gt; טבעי,‏ ובוררי המידה/גזרה/צבע הם רכיבים קלים משלנו,‏ מוזנים ישירות מ-‪tokens.css‬. נכון להיום,‏ אין אף חבילת ‪shadcn/Radix‬ מותקנת בפרויקט.‏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210148" y="4114800"/>
            <a:ext cx="5341468" cy="2194560"/>
          </a:xfrm>
          <a:prstGeom prst="roundRect">
            <a:avLst>
              <a:gd name="adj" fmla="val 5000"/>
            </a:avLst>
          </a:prstGeom>
          <a:solidFill>
            <a:srgbClr val="F3F2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66180" y="4297680"/>
            <a:ext cx="482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‪Zod‬ — כרגע:‏ רק על ‪environment variables‬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66180" y="4828032"/>
            <a:ext cx="48294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השימוש היחיד כיום:‏ ‪src/config/env.ts‬ — סכמת ‪Zod‬ אחת גם מוודאת בזמן ריצה שמשתני הסביבה בצד הקליינט תקינים (קריסה ברורה בעליית האתר אם לא), וגם מייצרת מהם אוטומטית את טיפוס ה-‪TypeScript (z.infer‬) — בלי צורך ב-‪interface‬ נפרד שנכתב ביד.‏ ולידציית טפסים (‪checkout‬ וכו') מתוכננת ב-‪TECH_SPEC‬, אך טרם מומשה בפועל.‏</a:t>
            </a:r>
            <a:endParaRPr lang="en-US" sz="113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· אורן הדר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‪10‬  ·  התוצאה  ·  ‪5/5‬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תשתית ואחסון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60920" y="237744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2025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60920" y="2651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60920" y="3291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Instance: Starter ($7/חודש)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Frankfurt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554480" y="237744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C062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54480" y="2651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91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מנוהל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Frankfurt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46320" y="3337560"/>
            <a:ext cx="2514600" cy="0"/>
          </a:xfrm>
          <a:prstGeom prst="line">
            <a:avLst/>
          </a:prstGeom>
          <a:noFill/>
          <a:ln w="25400">
            <a:solidFill>
              <a:srgbClr val="5B657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1554480" y="4617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קרבה גיאוגרפית מכוונת — ‪Frankfurt‬ קרוב ביותר גם ל-‪Neon‬ וגם לקהל היעד בישראל.‏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5074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‪Starter‬ ולא ‪Free‬ — ‪Free‬ ‘נרדם’ אחרי ‪15‬ דק’ בלי תנועה (~‪30-60‬ שנ’ התעוררות). $‪7‬/חודש קונה תמיד-ער בלי סיכון.‏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· אורן הדר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‪11‬  ·  מדידה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אנליטיקה — ‪Mixpanel‬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הכלי שנבחר לאנליטיקת פרונטאנד — פותח ונבדק.‏ מוצג חי בדשבורד במהלך ההדגמה,‏ לא רק כשם-כלי כאן.‏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F3F2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24028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אירועי ‪Guest‬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606040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נרשמים לפני התחברות,‏ בלי זהות מזוהה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649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Merge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48840" y="3630168"/>
            <a:ext cx="0" cy="146304"/>
          </a:xfrm>
          <a:prstGeom prst="line">
            <a:avLst/>
          </a:prstGeom>
          <a:noFill/>
          <a:ln w="31750">
            <a:solidFill>
              <a:srgbClr val="C0622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3794760"/>
            <a:ext cx="3017520" cy="1234440"/>
          </a:xfrm>
          <a:prstGeom prst="roundRect">
            <a:avLst>
              <a:gd name="adj" fmla="val 7407"/>
            </a:avLst>
          </a:prstGeom>
          <a:solidFill>
            <a:srgbClr val="2025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93192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5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משתמש מזוהה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297680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לאחר לוגין — ‪Mixpanel‬ משייך אוטומטית את אירועי ה-‪guest‬ הקודמים לאותו משתמש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37093" y="2039112"/>
            <a:ext cx="7409349" cy="4059936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DDD9D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pic>
        <p:nvPicPr>
          <p:cNvPr id="14" name="Image 0" descr="/home/claude/assets/hi-res-opt/mixpanel-user_c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1101" y="2103120"/>
            <a:ext cx="7281333" cy="39319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3931920" y="6126480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 המשתמש של אורן עצמו ב-‪Mixpanel‬ — ‪Sign Out‬ ↔ אורח,‏ ‪Sign In‬, רכישה,‏ ואפילו החלפת שפה,‏ כולם באותה שרשרת אירועים.‏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· אורן הדר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0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F5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עכשיו — ההדגמה החיה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6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dull.onrender.com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 · אורן הדר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2026-09-16T20:00:57Z</dcterms:created>
  <dcterms:modified xsi:type="dcterms:W3CDTF">2026-09-16T20:00:57Z</dcterms:modified>
</cp:coreProperties>
</file>